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0" r:id="rId5"/>
    <p:sldId id="261" r:id="rId6"/>
    <p:sldId id="262" r:id="rId7"/>
    <p:sldId id="263" r:id="rId8"/>
    <p:sldId id="289" r:id="rId9"/>
    <p:sldId id="264" r:id="rId10"/>
    <p:sldId id="293" r:id="rId11"/>
    <p:sldId id="294" r:id="rId12"/>
    <p:sldId id="295" r:id="rId13"/>
    <p:sldId id="300" r:id="rId14"/>
    <p:sldId id="296" r:id="rId15"/>
    <p:sldId id="297" r:id="rId16"/>
    <p:sldId id="298" r:id="rId17"/>
    <p:sldId id="299" r:id="rId18"/>
    <p:sldId id="301" r:id="rId19"/>
    <p:sldId id="292" r:id="rId20"/>
    <p:sldId id="283" r:id="rId21"/>
    <p:sldId id="282" r:id="rId22"/>
    <p:sldId id="267" r:id="rId23"/>
    <p:sldId id="266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4" r:id="rId39"/>
    <p:sldId id="285" r:id="rId40"/>
    <p:sldId id="286" r:id="rId41"/>
    <p:sldId id="287" r:id="rId42"/>
    <p:sldId id="290" r:id="rId43"/>
    <p:sldId id="291" r:id="rId4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>
      <p:cViewPr varScale="1">
        <p:scale>
          <a:sx n="83" d="100"/>
          <a:sy n="83" d="100"/>
        </p:scale>
        <p:origin x="-143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221F8-DAA5-4014-8C01-2D5B00AF6BBC}" type="datetimeFigureOut">
              <a:rPr lang="pt-BR" smtClean="0"/>
              <a:pPr/>
              <a:t>10/09/2025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833D6-4889-4838-96BE-FAC4077CE3A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/>
              <a:t>Plataforma de Cinema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Marcelo Henrique</a:t>
            </a:r>
          </a:p>
          <a:p>
            <a:r>
              <a:rPr lang="pt-BR" dirty="0" smtClean="0"/>
              <a:t>Thiago Galego</a:t>
            </a:r>
          </a:p>
          <a:p>
            <a:r>
              <a:rPr lang="pt-BR" dirty="0" smtClean="0"/>
              <a:t>Leonardo </a:t>
            </a:r>
            <a:r>
              <a:rPr lang="pt-BR" dirty="0" smtClean="0"/>
              <a:t>Sade</a:t>
            </a:r>
            <a:endParaRPr lang="pt-BR" dirty="0" smtClean="0"/>
          </a:p>
          <a:p>
            <a:r>
              <a:rPr lang="pt-BR" dirty="0" smtClean="0"/>
              <a:t>Ravel Camargo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Proposta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pt-BR" dirty="0" smtClean="0"/>
              <a:t>	Um sistema de gestão de cinema, focado na experiência dos clientes e na administração do negócio. O sistema permitirá que os usuários consultem a programação de filmes, horários de sessões e disponibilidade de ingressos, além de realizar a compra online de bilhetes de forma prática e a reserva das poltronas de forma segura. Também será disponibilizado um programa de fidelidade.</a:t>
            </a:r>
          </a:p>
          <a:p>
            <a:pPr algn="just"/>
            <a:r>
              <a:rPr lang="pt-BR" dirty="0" smtClean="0"/>
              <a:t>	Do ponto de vista administrativo, o sistema oferecerá recursos para cadastro e gerenciamento de ingressos, filmes, salas, sessões e clientes, assegurando maior controle e organização. Também serão contemplados requisitos não funcionais relacionados ao desempenho, </a:t>
            </a:r>
            <a:r>
              <a:rPr lang="pt-BR" dirty="0" err="1" smtClean="0"/>
              <a:t>escalabilidade</a:t>
            </a:r>
            <a:r>
              <a:rPr lang="pt-BR" dirty="0" smtClean="0"/>
              <a:t>, segurança, usabilidade e confiabilidade, a fim de garantir uma plataforma eficiente e de fácil utilização.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Requisitos Funcionais e </a:t>
            </a:r>
            <a:br>
              <a:rPr lang="pt-BR" dirty="0" smtClean="0"/>
            </a:br>
            <a:r>
              <a:rPr lang="pt-BR" dirty="0" err="1" smtClean="0"/>
              <a:t>Não-Funcionais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467544" y="188640"/>
          <a:ext cx="8229600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0424"/>
                <a:gridCol w="7499176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RF01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 clientes e administradores precisarão efetuar cadastro na plataforma.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RF02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 clientes poderão descobrir filmes, sessões e salas disponíveis.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RF03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poderá consultar o seu carrinho de compra.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RF04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precisará efetuar o pagamento para adiquirir e reservar os seus ingressos. 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RF05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 concluir a compra do(s) ingresso(s) será necessária confirmação do cliente.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RF06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poderá consultar os seus ingressos, após a compra.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RF07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precisará passar por validação no check-in antes de entrar na sessão.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RF08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precisará de uma conta na plataforma.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RF09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shade val="30000"/>
                            <a:satMod val="115000"/>
                          </a:srgbClr>
                        </a:gs>
                        <a:gs pos="50000">
                          <a:srgbClr val="FFC000">
                            <a:shade val="67500"/>
                            <a:satMod val="115000"/>
                          </a:srgbClr>
                        </a:gs>
                        <a:gs pos="100000">
                          <a:srgbClr val="FFC000">
                            <a:shade val="100000"/>
                            <a:satMod val="115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Haverá um programa de fidelidade para clientes fiéis da plataforma.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RF01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 clientes e administradores precisarão efetuar cadastro na plataforma.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RF02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 clientes poderão descobrir filmes, sessões e salas disponíveis.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RF03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poderá consultar o seu carrinho de compra.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RF04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precisará efetuar o pagamento para adiquirir e reservar os seus ingressos. 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RF05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 concluir a compra do(s) ingresso(s) será necessária confirmação do cliente.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RF06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poderá consultar os seus ingressos, após a compra.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467544" y="188640"/>
          <a:ext cx="8229600" cy="647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0424"/>
                <a:gridCol w="7499176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RF07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precisará passar por validação no check-in antes de entrar na sessão.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RF08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precisará de uma conta na plataforma.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RF09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Haverá um programa de fidelidade para clientes fiéis da plataforma.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RF10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administrador precisará de uma conta na plataforma.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RF11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Visitantes serão redirecionados para a tela de login, caso: avançar para na compra dos ingressos ou visitar página de login.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RF12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tela de cadastro do usuário solicitará: email, nome, CPF, telefone e senha.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RNF01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ser composta por conteúdos de marketing, como: banners e anúncios.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RNF02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 haver uma página de suporte e ajuda aos usuários.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RNF03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ser otimizada e ter um bom desempenho.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RNF04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ser </a:t>
                      </a:r>
                      <a:r>
                        <a:rPr lang="pt-BR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escalável</a:t>
                      </a:r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para armazenar e registrar mais catálogos e usuários.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RNF05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garantir a confiança do cliente, mantendo preços e dados da sessão atualizados.</a:t>
                      </a:r>
                      <a:b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endParaRPr lang="pt-BR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RNF06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garantir disponibilidade para clientes e administradores.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RNF07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manter em sigilo os dados dos clientes e administradores, bem como a sua segurança.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RNF08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deverá ordenar e priorizar títulos, de acordo com as demandas dos clientes. 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RNF09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deverá ser responsiva e compatível com periféricos e dispositivos móveis.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RNF10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deverá ser intuitiva zelando a sua usabilidade.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RNF11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chemeClr val="accent5">
                            <a:lumMod val="40000"/>
                            <a:lumOff val="60000"/>
                            <a:shade val="30000"/>
                            <a:satMod val="115000"/>
                          </a:schemeClr>
                        </a:gs>
                        <a:gs pos="50000">
                          <a:schemeClr val="accent5">
                            <a:lumMod val="40000"/>
                            <a:lumOff val="60000"/>
                            <a:shade val="67500"/>
                            <a:satMod val="115000"/>
                          </a:schemeClr>
                        </a:gs>
                        <a:gs pos="100000">
                          <a:schemeClr val="accent5">
                            <a:lumMod val="40000"/>
                            <a:lumOff val="60000"/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deverá ser acessível para usuários deficientes.</a:t>
                      </a:r>
                    </a:p>
                  </a:txBody>
                  <a:tcPr marL="22860" marR="22860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467544" y="188640"/>
          <a:ext cx="8229600" cy="596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0424"/>
                <a:gridCol w="7499176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RF13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Será necessário o cadastro de um administrador para personalizar o catálogo e as sessões disponíveis.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RF14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tela de cadastro do administrador solicitará: email, endereço, nome fantasia, CNPJ, telefone e senha.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RF15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Após o login, o usuário poderá consultar: informações de cadastro, histórico de todas as reservas, todos os filmes do catálogo, sessões disponíveis e efetuar a reserva de ingressos.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RF16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usuário poderá comprar até 5 ingressos na mesma compra, o valor máximo será diminuído de acordo com o número de poltronas restantes da sessão.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RF17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 tela de administrador, serão exibidos: os títulos e miniaturas/cartazes dos filmes, suas sinopses, classificações e sessões listadas.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RF18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 tela de administrador, sessões poderão ser adicionadas ou removidas, interagindo com os ícones “x” e “+”, ao lado dos horários listados.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RF19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 tela de administrador, filmes poderão adicionados ou removidos, interagindo com os ícones “x” e “+”. A adição de filmes estará localizado em um card com o ícone “+”, já para a exclusão basta clicar no ícone “x” acima do card do filme correspondente.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RF20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 a adição de um filme novo, será necessário: um título, duração, cartaz, sinopse, gênero e classificação.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RF21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 tela de administrador, poderão ser personalizados: o título, a duração, classificação, gênero e sinopse do filme.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RF22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catálogo do site deverá ser atualizado caso houver alterações administrativas.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RNF12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Caso o usuário não tenha realizado alguma reserva, deve-se indicar que não há reservas registradas.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RNF13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Durante a compra de ingressos, o usuário poderá consultar e selecionar as poltronas disponíveis no mapa da sessão.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RNF14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Após cada compra, o mapa da sessão deverá ser atualizado exibindo as poltronas disponíveis e ocupadas.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704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RNF15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Caso todos os ingressos de uma sessão acabem e todas as poltronas estejam reservadas deve-se indicar que a sessão está lotada.</a:t>
                      </a:r>
                    </a:p>
                  </a:txBody>
                  <a:tcPr marL="22860" marR="22860" marT="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467544" y="188640"/>
          <a:ext cx="8229600" cy="567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0424"/>
                <a:gridCol w="7499176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RF23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poderá cancelar ingressos já adquiridos, no prazo de 5 dias.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RF24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senha do cliente pode ser redefinida.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RF25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senha do administrador pode ser redefinida.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RF26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tela de redifinação será composta por um formulários que solicite: a nova senha, a mesma senha novamente e um botão para salvar. 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RF27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poderá editar os seus dados, como: nome, telefone e email.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RF28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administrador poderá alterar o preço dos ingressos.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RF29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poderá filtrar filmes por gêneros e categorias.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RNF16</a:t>
                      </a:r>
                    </a:p>
                  </a:txBody>
                  <a:tcPr marL="22860" marR="22860" marT="0" marB="0" anchor="ctr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Caso houver redução no valor dos ingressos, deve ser sinalizado o percentual do desconto imposto no momento da compra dos ingressos.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RNF17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cliente poderá salvar seus métodos de pagamento de forma segura para compras futuras.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RNF18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oferecer tradução para o idioma ingles.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RNF19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ser escalável para armazenar e registrar mais catálogos e usuários.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RNF20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garantir disponibilidade para clientes e administradores.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RNF21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 filmes deve possuir classificações como: 2D e 3D.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RNF22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plataforma deve oferecer formas de pagamento: crédito, débito e pix.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RNF23</a:t>
                      </a:r>
                    </a:p>
                  </a:txBody>
                  <a:tcPr marL="22860" marR="22860" marT="0" marB="0" anchor="b"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BR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 sistema deverá estar disponível 24/7, com tempo de inatividade máximo de 1% ao mês.</a:t>
                      </a:r>
                    </a:p>
                  </a:txBody>
                  <a:tcPr marL="22860" marR="22860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err="1" smtClean="0"/>
              <a:t>Wireframes</a:t>
            </a:r>
            <a:endParaRPr lang="pt-BR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</a:t>
            </a:r>
            <a:r>
              <a:rPr lang="pt-BR" sz="4400" b="1" dirty="0" err="1" smtClean="0">
                <a:latin typeface="+mj-lt"/>
                <a:ea typeface="+mj-ea"/>
                <a:cs typeface="+mj-cs"/>
              </a:rPr>
              <a:t>Login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C:\Users\Marcelo Silva\Downloads\wireframesImagens\Captura de tela 2025-09-01 182956.png"/>
          <p:cNvPicPr>
            <a:picLocks noChangeAspect="1" noChangeArrowheads="1"/>
          </p:cNvPicPr>
          <p:nvPr/>
        </p:nvPicPr>
        <p:blipFill>
          <a:blip r:embed="rId2" cstate="print"/>
          <a:srcRect l="22656" t="13378" r="24264" b="21225"/>
          <a:stretch>
            <a:fillRect/>
          </a:stretch>
        </p:blipFill>
        <p:spPr bwMode="auto">
          <a:xfrm>
            <a:off x="1907704" y="1484784"/>
            <a:ext cx="5688632" cy="43095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Alteração de Senha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Imagem 4" descr="Captura de tela 2025-09-01 184403.png"/>
          <p:cNvPicPr>
            <a:picLocks noChangeAspect="1"/>
          </p:cNvPicPr>
          <p:nvPr/>
        </p:nvPicPr>
        <p:blipFill>
          <a:blip r:embed="rId2" cstate="print"/>
          <a:srcRect l="31888" t="22077" r="27950" b="20526"/>
          <a:stretch>
            <a:fillRect/>
          </a:stretch>
        </p:blipFill>
        <p:spPr>
          <a:xfrm>
            <a:off x="1849319" y="1556792"/>
            <a:ext cx="5819025" cy="4248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Edição de Dados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3" descr="C:\Users\Marcelo Silva\Downloads\wireframesImagens\Captura de tela 2025-09-02 141637.png"/>
          <p:cNvPicPr>
            <a:picLocks noChangeAspect="1" noChangeArrowheads="1"/>
          </p:cNvPicPr>
          <p:nvPr/>
        </p:nvPicPr>
        <p:blipFill>
          <a:blip r:embed="rId2" cstate="print"/>
          <a:srcRect l="20509" t="10185" r="16703" b="17558"/>
          <a:stretch>
            <a:fillRect/>
          </a:stretch>
        </p:blipFill>
        <p:spPr bwMode="auto">
          <a:xfrm>
            <a:off x="1691680" y="1556792"/>
            <a:ext cx="5819422" cy="4320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Seleção do Filme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3" descr="C:\Users\Marcelo Silva\Downloads\wireframesImagens\Captura de tela 2025-09-02 141637.png"/>
          <p:cNvPicPr>
            <a:picLocks noChangeAspect="1" noChangeArrowheads="1"/>
          </p:cNvPicPr>
          <p:nvPr/>
        </p:nvPicPr>
        <p:blipFill>
          <a:blip r:embed="rId2" cstate="print"/>
          <a:srcRect l="23510" t="13608" r="24520" b="15882"/>
          <a:stretch>
            <a:fillRect/>
          </a:stretch>
        </p:blipFill>
        <p:spPr bwMode="auto">
          <a:xfrm>
            <a:off x="1691680" y="1412776"/>
            <a:ext cx="5472608" cy="40393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 smtClean="0">
                <a:latin typeface="+mj-lt"/>
                <a:ea typeface="+mj-ea"/>
                <a:cs typeface="+mj-cs"/>
              </a:rPr>
              <a:t>Visão Comum - Tela do Catálogo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3" descr="C:\Users\Marcelo Silva\Downloads\wireframesImagens\Captura de tela 2025-09-02 141637.png"/>
          <p:cNvPicPr>
            <a:picLocks noChangeAspect="1" noChangeArrowheads="1"/>
          </p:cNvPicPr>
          <p:nvPr/>
        </p:nvPicPr>
        <p:blipFill>
          <a:blip r:embed="rId2" cstate="print"/>
          <a:srcRect l="25000" t="16096" r="27632" b="13745"/>
          <a:stretch>
            <a:fillRect/>
          </a:stretch>
        </p:blipFill>
        <p:spPr bwMode="auto">
          <a:xfrm>
            <a:off x="1907704" y="1196752"/>
            <a:ext cx="5616624" cy="42124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Finalização de Pagamento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3" descr="C:\Users\Marcelo Silva\Downloads\wireframesImagens\Captura de tela 2025-09-02 141637.png"/>
          <p:cNvPicPr>
            <a:picLocks noChangeAspect="1" noChangeArrowheads="1"/>
          </p:cNvPicPr>
          <p:nvPr/>
        </p:nvPicPr>
        <p:blipFill>
          <a:blip r:embed="rId2" cstate="print"/>
          <a:srcRect l="27778" t="15994" r="23611" b="20852"/>
          <a:stretch>
            <a:fillRect/>
          </a:stretch>
        </p:blipFill>
        <p:spPr bwMode="auto">
          <a:xfrm>
            <a:off x="1907704" y="1268760"/>
            <a:ext cx="5472608" cy="40653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Opções de Pagamento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3" descr="C:\Users\Marcelo Silva\Downloads\wireframesImagens\Captura de tela 2025-09-02 141637.png"/>
          <p:cNvPicPr>
            <a:picLocks noChangeAspect="1" noChangeArrowheads="1"/>
          </p:cNvPicPr>
          <p:nvPr/>
        </p:nvPicPr>
        <p:blipFill>
          <a:blip r:embed="rId2" cstate="print"/>
          <a:srcRect l="23684" t="16550" r="27632" b="12649"/>
          <a:stretch>
            <a:fillRect/>
          </a:stretch>
        </p:blipFill>
        <p:spPr bwMode="auto">
          <a:xfrm>
            <a:off x="1547664" y="1268760"/>
            <a:ext cx="5899513" cy="44644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Preços dos Ingressos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C:\Users\Marcelo Silva\Downloads\wireframesImagens\Captura de tela 2025-09-02 141637.png"/>
          <p:cNvPicPr>
            <a:picLocks noChangeAspect="1" noChangeArrowheads="1"/>
          </p:cNvPicPr>
          <p:nvPr/>
        </p:nvPicPr>
        <p:blipFill>
          <a:blip r:embed="rId2" cstate="print"/>
          <a:srcRect l="18309" t="6958" r="20662" b="13414"/>
          <a:stretch>
            <a:fillRect/>
          </a:stretch>
        </p:blipFill>
        <p:spPr bwMode="auto">
          <a:xfrm>
            <a:off x="1547664" y="1340768"/>
            <a:ext cx="6120680" cy="45293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2800" b="1" dirty="0" smtClean="0">
                <a:latin typeface="+mj-lt"/>
                <a:ea typeface="+mj-ea"/>
                <a:cs typeface="+mj-cs"/>
              </a:rPr>
              <a:t>Visão do Administrador - Tela </a:t>
            </a:r>
            <a:r>
              <a:rPr lang="pt-BR" sz="2800" b="1" dirty="0">
                <a:latin typeface="+mj-lt"/>
                <a:ea typeface="+mj-ea"/>
                <a:cs typeface="+mj-cs"/>
              </a:rPr>
              <a:t>de </a:t>
            </a:r>
            <a:r>
              <a:rPr lang="pt-BR" sz="2800" b="1" dirty="0" smtClean="0">
                <a:latin typeface="+mj-lt"/>
                <a:ea typeface="+mj-ea"/>
                <a:cs typeface="+mj-cs"/>
              </a:rPr>
              <a:t>Preços dos Ingressos</a:t>
            </a:r>
            <a:endParaRPr kumimoji="0" lang="pt-BR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C:\Users\Marcelo Silva\Downloads\wireframesImagens\Captura de tela 2025-09-02 141637.png"/>
          <p:cNvPicPr>
            <a:picLocks noChangeAspect="1" noChangeArrowheads="1"/>
          </p:cNvPicPr>
          <p:nvPr/>
        </p:nvPicPr>
        <p:blipFill>
          <a:blip r:embed="rId2" cstate="print"/>
          <a:srcRect l="17647" t="4856" r="20000" b="18139"/>
          <a:stretch>
            <a:fillRect/>
          </a:stretch>
        </p:blipFill>
        <p:spPr bwMode="auto">
          <a:xfrm>
            <a:off x="1763688" y="1196751"/>
            <a:ext cx="5832648" cy="4401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000" b="1" dirty="0">
                <a:latin typeface="+mj-lt"/>
                <a:ea typeface="+mj-ea"/>
                <a:cs typeface="+mj-cs"/>
              </a:rPr>
              <a:t>Tela de </a:t>
            </a:r>
            <a:r>
              <a:rPr lang="pt-BR" sz="4000" b="1" dirty="0" smtClean="0">
                <a:latin typeface="+mj-lt"/>
                <a:ea typeface="+mj-ea"/>
                <a:cs typeface="+mj-cs"/>
              </a:rPr>
              <a:t>Cancelamento dos Ingressos</a:t>
            </a:r>
            <a:endParaRPr kumimoji="0" lang="pt-BR" sz="4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C:\Users\Marcelo Silva\Downloads\wireframesImagens\Captura de tela 2025-09-02 141637.png"/>
          <p:cNvPicPr>
            <a:picLocks noChangeAspect="1" noChangeArrowheads="1"/>
          </p:cNvPicPr>
          <p:nvPr/>
        </p:nvPicPr>
        <p:blipFill>
          <a:blip r:embed="rId2" cstate="print"/>
          <a:srcRect l="16049" t="8935" r="17284" b="16454"/>
          <a:stretch>
            <a:fillRect/>
          </a:stretch>
        </p:blipFill>
        <p:spPr bwMode="auto">
          <a:xfrm>
            <a:off x="1979712" y="1484784"/>
            <a:ext cx="5328592" cy="40457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Cadastro de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Usuário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908720"/>
            <a:ext cx="7992888" cy="5803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980728"/>
            <a:ext cx="2828528" cy="5657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000" b="1" dirty="0">
                <a:latin typeface="+mj-lt"/>
                <a:ea typeface="+mj-ea"/>
                <a:cs typeface="+mj-cs"/>
              </a:rPr>
              <a:t>Tela de Cadastro de </a:t>
            </a:r>
            <a:r>
              <a:rPr lang="pt-BR" sz="4000" b="1" dirty="0" smtClean="0">
                <a:latin typeface="+mj-lt"/>
                <a:ea typeface="+mj-ea"/>
                <a:cs typeface="+mj-cs"/>
              </a:rPr>
              <a:t>Usuário - </a:t>
            </a:r>
            <a:r>
              <a:rPr lang="pt-BR" sz="4000" b="1" dirty="0" err="1" smtClean="0">
                <a:latin typeface="+mj-lt"/>
                <a:ea typeface="+mj-ea"/>
                <a:cs typeface="+mj-cs"/>
              </a:rPr>
              <a:t>Mobile</a:t>
            </a:r>
            <a:endParaRPr kumimoji="0" lang="pt-BR" sz="4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9650" y="1559396"/>
            <a:ext cx="71247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260648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>
                <a:latin typeface="+mj-lt"/>
                <a:ea typeface="+mj-ea"/>
                <a:cs typeface="+mj-cs"/>
              </a:rPr>
              <a:t>Tela de Cadastro de Administrador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84784"/>
            <a:ext cx="624840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 r="68162"/>
          <a:stretch>
            <a:fillRect/>
          </a:stretch>
        </p:blipFill>
        <p:spPr bwMode="auto">
          <a:xfrm>
            <a:off x="6732240" y="1452654"/>
            <a:ext cx="2232248" cy="5360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 smtClean="0">
                <a:latin typeface="+mj-lt"/>
                <a:ea typeface="+mj-ea"/>
                <a:cs typeface="+mj-cs"/>
              </a:rPr>
              <a:t>Informações Gerais do Usuário e Histórico de Reservas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52654"/>
            <a:ext cx="7011318" cy="5360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 smtClean="0">
                <a:latin typeface="+mj-lt"/>
                <a:ea typeface="+mj-ea"/>
                <a:cs typeface="+mj-cs"/>
              </a:rPr>
              <a:t>Informações Gerais do Usuário e Histórico de Reservas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5388" y="980728"/>
            <a:ext cx="6753225" cy="572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323528" y="116632"/>
            <a:ext cx="8352928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 smtClean="0">
                <a:latin typeface="+mj-lt"/>
                <a:ea typeface="+mj-ea"/>
                <a:cs typeface="+mj-cs"/>
              </a:rPr>
              <a:t>Tela de Personalização do Catálogo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196752"/>
            <a:ext cx="6192688" cy="49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dirty="0" err="1" smtClean="0">
                <a:latin typeface="+mj-lt"/>
                <a:ea typeface="+mj-ea"/>
                <a:cs typeface="+mj-cs"/>
              </a:rPr>
              <a:t>Card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 de um Filme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7985" y="1724000"/>
            <a:ext cx="6384375" cy="4441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noProof="0" dirty="0" err="1" smtClean="0">
                <a:latin typeface="+mj-lt"/>
                <a:ea typeface="+mj-ea"/>
                <a:cs typeface="+mj-cs"/>
              </a:rPr>
              <a:t>Card</a:t>
            </a:r>
            <a:r>
              <a:rPr lang="pt-BR" sz="4400" b="1" noProof="0" dirty="0" smtClean="0">
                <a:latin typeface="+mj-lt"/>
                <a:ea typeface="+mj-ea"/>
                <a:cs typeface="+mj-cs"/>
              </a:rPr>
              <a:t> de um </a:t>
            </a:r>
            <a:r>
              <a:rPr lang="pt-BR" sz="4400" b="1" noProof="0" dirty="0" err="1" smtClean="0">
                <a:latin typeface="+mj-lt"/>
                <a:ea typeface="+mj-ea"/>
                <a:cs typeface="+mj-cs"/>
              </a:rPr>
              <a:t>Film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e – Visão do Administrador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095548"/>
            <a:ext cx="6843022" cy="5717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200" b="1" noProof="0" dirty="0" smtClean="0">
                <a:latin typeface="+mj-lt"/>
                <a:ea typeface="+mj-ea"/>
                <a:cs typeface="+mj-cs"/>
              </a:rPr>
              <a:t>Tela </a:t>
            </a:r>
            <a:r>
              <a:rPr lang="pt-BR" sz="3200" b="1" dirty="0" smtClean="0">
                <a:latin typeface="+mj-lt"/>
                <a:ea typeface="+mj-ea"/>
                <a:cs typeface="+mj-cs"/>
              </a:rPr>
              <a:t>do Administrador – Edição do Catálogo</a:t>
            </a:r>
            <a:endParaRPr kumimoji="0" lang="pt-BR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9388" y="1766888"/>
            <a:ext cx="37052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noProof="0" dirty="0" smtClean="0">
                <a:latin typeface="+mj-lt"/>
                <a:ea typeface="+mj-ea"/>
                <a:cs typeface="+mj-cs"/>
              </a:rPr>
              <a:t>Tela de Aviso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– Validação da Compra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484784"/>
            <a:ext cx="6480720" cy="4195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noProof="0" dirty="0" smtClean="0">
                <a:latin typeface="+mj-lt"/>
                <a:ea typeface="+mj-ea"/>
                <a:cs typeface="+mj-cs"/>
              </a:rPr>
              <a:t>Tela de Cadastro </a:t>
            </a:r>
            <a:r>
              <a:rPr lang="pt-BR" sz="4400" b="1" dirty="0" smtClean="0">
                <a:latin typeface="+mj-lt"/>
                <a:ea typeface="+mj-ea"/>
                <a:cs typeface="+mj-cs"/>
              </a:rPr>
              <a:t>de um Filme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r="52839"/>
          <a:stretch>
            <a:fillRect/>
          </a:stretch>
        </p:blipFill>
        <p:spPr bwMode="auto">
          <a:xfrm>
            <a:off x="1619672" y="1206142"/>
            <a:ext cx="5400600" cy="2612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 l="47184"/>
          <a:stretch>
            <a:fillRect/>
          </a:stretch>
        </p:blipFill>
        <p:spPr bwMode="auto">
          <a:xfrm>
            <a:off x="1617315" y="4005064"/>
            <a:ext cx="5402957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noProof="0" dirty="0" smtClean="0">
                <a:latin typeface="+mj-lt"/>
                <a:ea typeface="+mj-ea"/>
                <a:cs typeface="+mj-cs"/>
              </a:rPr>
              <a:t>Mensagens de Aviso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3550" y="980728"/>
            <a:ext cx="5676900" cy="56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4400" b="1" noProof="0" dirty="0" smtClean="0">
                <a:latin typeface="+mj-lt"/>
                <a:ea typeface="+mj-ea"/>
                <a:cs typeface="+mj-cs"/>
              </a:rPr>
              <a:t>Visão do Cliente - Mapa da Sessão</a:t>
            </a:r>
            <a:endParaRPr kumimoji="0" lang="pt-BR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Visão do Administrador - Mapa da Sessão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980728"/>
            <a:ext cx="6257925" cy="568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3068960"/>
            <a:ext cx="1008112" cy="37652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3717032"/>
            <a:ext cx="986863" cy="36931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52320" y="4365104"/>
            <a:ext cx="1008112" cy="392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836712"/>
            <a:ext cx="8219240" cy="5951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Tela de Administração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764704"/>
            <a:ext cx="2712209" cy="5805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Tela de Administração - </a:t>
            </a:r>
            <a:r>
              <a:rPr lang="pt-BR" sz="3600" b="1" noProof="0" dirty="0" err="1" smtClean="0">
                <a:latin typeface="+mj-lt"/>
                <a:ea typeface="+mj-ea"/>
                <a:cs typeface="+mj-cs"/>
              </a:rPr>
              <a:t>Mobile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836712"/>
            <a:ext cx="8083031" cy="5842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Tela de Redirecionamento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Tela de Redirecionamento - </a:t>
            </a:r>
            <a:r>
              <a:rPr lang="pt-BR" sz="3600" b="1" noProof="0" dirty="0" err="1" smtClean="0">
                <a:latin typeface="+mj-lt"/>
                <a:ea typeface="+mj-ea"/>
                <a:cs typeface="+mj-cs"/>
              </a:rPr>
              <a:t>Mobile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836712"/>
            <a:ext cx="2847975" cy="587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836712"/>
            <a:ext cx="7604522" cy="5832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Conteúdos de Marketing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807571"/>
            <a:ext cx="2880320" cy="6050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Conteúdos de Marketing - </a:t>
            </a:r>
            <a:r>
              <a:rPr lang="pt-BR" sz="3600" b="1" noProof="0" dirty="0" err="1" smtClean="0">
                <a:latin typeface="+mj-lt"/>
                <a:ea typeface="+mj-ea"/>
                <a:cs typeface="+mj-cs"/>
              </a:rPr>
              <a:t>Mobile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836712"/>
            <a:ext cx="8165340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Página de Suporte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764704"/>
            <a:ext cx="2877871" cy="5949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Página de Suporte - </a:t>
            </a:r>
            <a:r>
              <a:rPr lang="pt-BR" sz="3600" b="1" noProof="0" dirty="0" err="1" smtClean="0">
                <a:latin typeface="+mj-lt"/>
                <a:ea typeface="+mj-ea"/>
                <a:cs typeface="+mj-cs"/>
              </a:rPr>
              <a:t>Mobile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156" y="1196752"/>
            <a:ext cx="8943340" cy="4288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467544" y="116632"/>
            <a:ext cx="8208912" cy="1008112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pt-BR" sz="3600" b="1" noProof="0" dirty="0" smtClean="0">
                <a:latin typeface="+mj-lt"/>
                <a:ea typeface="+mj-ea"/>
                <a:cs typeface="+mj-cs"/>
              </a:rPr>
              <a:t>MER</a:t>
            </a:r>
            <a:endParaRPr kumimoji="0" lang="pt-BR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ARQUITETURA DE SOFTWARE SELECIONADA: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4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MVC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Referências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 err="1"/>
              <a:t>Cinemark</a:t>
            </a:r>
            <a:r>
              <a:rPr lang="pt-BR" dirty="0"/>
              <a:t>. Disponível em: &lt;https://www.cinemark.com.br</a:t>
            </a:r>
            <a:r>
              <a:rPr lang="pt-BR" dirty="0" smtClean="0"/>
              <a:t>/&gt;.</a:t>
            </a:r>
          </a:p>
          <a:p>
            <a:r>
              <a:rPr lang="pt-BR" b="1" dirty="0" err="1" smtClean="0"/>
              <a:t>Cinépolis</a:t>
            </a:r>
            <a:r>
              <a:rPr lang="pt-BR" dirty="0"/>
              <a:t>. Disponível em: </a:t>
            </a:r>
            <a:r>
              <a:rPr lang="pt-BR" dirty="0" smtClean="0"/>
              <a:t>&lt;https</a:t>
            </a:r>
            <a:r>
              <a:rPr lang="pt-BR" dirty="0"/>
              <a:t>://www.cinepolis.com.br</a:t>
            </a:r>
            <a:r>
              <a:rPr lang="pt-BR" dirty="0" smtClean="0"/>
              <a:t>/&gt;.‌</a:t>
            </a:r>
          </a:p>
          <a:p>
            <a:r>
              <a:rPr lang="pt-BR" b="1" dirty="0" err="1" smtClean="0"/>
              <a:t>Projeto_Cinema</a:t>
            </a:r>
            <a:r>
              <a:rPr lang="pt-BR" b="1" dirty="0" smtClean="0"/>
              <a:t>.</a:t>
            </a:r>
            <a:r>
              <a:rPr lang="pt-BR" b="1" dirty="0" err="1" smtClean="0"/>
              <a:t>xlsx</a:t>
            </a:r>
            <a:r>
              <a:rPr lang="pt-BR" dirty="0"/>
              <a:t>. Disponível em: &lt;https://docs.google.com/spreadsheets/d/1YCcuN5qFkugcc0JBx2WpJNavddgkKQ7l/edit?usp=sharing&amp;ouid=100702440329500181245&amp;rtpof=true&amp;sd=true</a:t>
            </a:r>
            <a:r>
              <a:rPr lang="pt-BR" dirty="0" smtClean="0"/>
              <a:t>&gt;.</a:t>
            </a:r>
            <a:endParaRPr lang="pt-BR" dirty="0"/>
          </a:p>
          <a:p>
            <a:r>
              <a:rPr lang="pt-BR" b="1" dirty="0" err="1" smtClean="0"/>
              <a:t>Projeto_Cinema</a:t>
            </a:r>
            <a:r>
              <a:rPr lang="pt-BR" b="1" dirty="0" smtClean="0"/>
              <a:t>.</a:t>
            </a:r>
            <a:r>
              <a:rPr lang="pt-BR" b="1" dirty="0" err="1" smtClean="0"/>
              <a:t>docx</a:t>
            </a:r>
            <a:r>
              <a:rPr lang="pt-BR" dirty="0" smtClean="0"/>
              <a:t>. </a:t>
            </a:r>
            <a:r>
              <a:rPr lang="pt-BR" dirty="0"/>
              <a:t>Disponível em: &lt;https://docs.google.com/document/d/1ivgVmkhrkCcQHVvj-n5LmcobGd1ZC4NmTj32Rq-ISmE/edit?usp=sharing</a:t>
            </a:r>
            <a:r>
              <a:rPr lang="pt-BR" dirty="0" smtClean="0"/>
              <a:t>&gt;.</a:t>
            </a:r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</TotalTime>
  <Words>1245</Words>
  <Application>Microsoft Office PowerPoint</Application>
  <PresentationFormat>Apresentação na tela (4:3)</PresentationFormat>
  <Paragraphs>172</Paragraphs>
  <Slides>43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4" baseType="lpstr">
      <vt:lpstr>Tema do Office</vt:lpstr>
      <vt:lpstr>Plataforma de Cinema</vt:lpstr>
      <vt:lpstr>Proposta</vt:lpstr>
      <vt:lpstr>Requisitos Funcionais e  Não-Funcionais</vt:lpstr>
      <vt:lpstr>Slide 4</vt:lpstr>
      <vt:lpstr>Slide 5</vt:lpstr>
      <vt:lpstr>Slide 6</vt:lpstr>
      <vt:lpstr>Slide 7</vt:lpstr>
      <vt:lpstr>Wireframes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ARQUITETURA DE SOFTWARE SELECIONADA:</vt:lpstr>
      <vt:lpstr>Referências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Cinema</dc:title>
  <dc:creator>Marcelo Silva</dc:creator>
  <cp:lastModifiedBy>Marcelo Silva</cp:lastModifiedBy>
  <cp:revision>58</cp:revision>
  <dcterms:created xsi:type="dcterms:W3CDTF">2025-09-08T20:18:55Z</dcterms:created>
  <dcterms:modified xsi:type="dcterms:W3CDTF">2025-09-10T22:17:23Z</dcterms:modified>
</cp:coreProperties>
</file>